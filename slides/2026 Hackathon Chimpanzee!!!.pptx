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C3B759-DF4E-4EA8-BEA5-4B412BC26232}">
  <a:tblStyle styleId="{A4C3B759-DF4E-4EA8-BEA5-4B412BC262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27"/>
    <p:restoredTop sz="94653"/>
  </p:normalViewPr>
  <p:slideViewPr>
    <p:cSldViewPr snapToGrid="0">
      <p:cViewPr varScale="1">
        <p:scale>
          <a:sx n="130" d="100"/>
          <a:sy n="130" d="100"/>
        </p:scale>
        <p:origin x="208" y="5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af2075d4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af2075d45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Look at this picture, you know how important that chimpanzees are, how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af2075d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af2075d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af2075d45_15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af2075d45_15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af2075d45_15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af2075d45_15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f2075d45_15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af2075d45_15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141300"/>
            <a:ext cx="8520600" cy="11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Exploration of Chimpanzee isoform diversity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67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2026 hackathon Group3</a:t>
            </a:r>
            <a:endParaRPr sz="1800" dirty="0"/>
          </a:p>
        </p:txBody>
      </p:sp>
      <p:graphicFrame>
        <p:nvGraphicFramePr>
          <p:cNvPr id="55" name="Google Shape;55;p13"/>
          <p:cNvGraphicFramePr/>
          <p:nvPr>
            <p:extLst>
              <p:ext uri="{D42A27DB-BD31-4B8C-83A1-F6EECF244321}">
                <p14:modId xmlns:p14="http://schemas.microsoft.com/office/powerpoint/2010/main" val="2146921738"/>
              </p:ext>
            </p:extLst>
          </p:nvPr>
        </p:nvGraphicFramePr>
        <p:xfrm>
          <a:off x="7412050" y="1514225"/>
          <a:ext cx="1672325" cy="3128125"/>
        </p:xfrm>
        <a:graphic>
          <a:graphicData uri="http://schemas.openxmlformats.org/drawingml/2006/table">
            <a:tbl>
              <a:tblPr>
                <a:noFill/>
                <a:tableStyleId>{A4C3B759-DF4E-4EA8-BEA5-4B412BC26232}</a:tableStyleId>
              </a:tblPr>
              <a:tblGrid>
                <a:gridCol w="167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4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Xinchang Zheng </a:t>
                      </a:r>
                      <a:endParaRPr sz="1000" b="1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Numrah</a:t>
                      </a:r>
                      <a:r>
                        <a:rPr lang="en" sz="1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Fadra</a:t>
                      </a:r>
                      <a:endParaRPr sz="10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Md Shakhaowat Hossain</a:t>
                      </a:r>
                      <a:endParaRPr sz="1000" b="1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Muteeba</a:t>
                      </a:r>
                      <a:r>
                        <a:rPr lang="en" sz="1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Azhar</a:t>
                      </a:r>
                      <a:endParaRPr sz="10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Nilabja</a:t>
                      </a:r>
                      <a:r>
                        <a:rPr lang="en" sz="1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Bhattacharjee</a:t>
                      </a:r>
                      <a:endParaRPr sz="10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Rojina Sapkota</a:t>
                      </a:r>
                      <a:endParaRPr sz="1000" b="1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Umran Yaman</a:t>
                      </a:r>
                      <a:endParaRPr sz="1000" b="1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Amit Shenoy</a:t>
                      </a:r>
                      <a:endParaRPr sz="1000" b="1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Hannah Chang</a:t>
                      </a:r>
                      <a:endParaRPr sz="1000" b="1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Aisha Yousaf</a:t>
                      </a:r>
                      <a:endParaRPr sz="1000" b="1"/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Rajarshi Mondal</a:t>
                      </a:r>
                      <a:endParaRPr sz="10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475" y="1514225"/>
            <a:ext cx="6493501" cy="24129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18975" y="4130100"/>
            <a:ext cx="12585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Where we started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368800" y="4130100"/>
            <a:ext cx="14271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Where we now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911125" y="3707525"/>
            <a:ext cx="274200" cy="3093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5945250" y="3707525"/>
            <a:ext cx="274200" cy="3093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300" y="0"/>
            <a:ext cx="7652175" cy="5104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200" y="855274"/>
            <a:ext cx="2315284" cy="24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025" y="3354550"/>
            <a:ext cx="2627650" cy="164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9957" y="999363"/>
            <a:ext cx="2740125" cy="183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86525" y="3294717"/>
            <a:ext cx="2740124" cy="1764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76750" y="921000"/>
            <a:ext cx="3167249" cy="26990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Google Shape;75;p15"/>
          <p:cNvCxnSpPr/>
          <p:nvPr/>
        </p:nvCxnSpPr>
        <p:spPr>
          <a:xfrm>
            <a:off x="2973625" y="887025"/>
            <a:ext cx="0" cy="422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76;p15"/>
          <p:cNvCxnSpPr/>
          <p:nvPr/>
        </p:nvCxnSpPr>
        <p:spPr>
          <a:xfrm>
            <a:off x="5901700" y="920998"/>
            <a:ext cx="0" cy="422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" name="Google Shape;77;p15"/>
          <p:cNvSpPr txBox="1"/>
          <p:nvPr/>
        </p:nvSpPr>
        <p:spPr>
          <a:xfrm>
            <a:off x="277613" y="440875"/>
            <a:ext cx="28740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Transcript level comparison</a:t>
            </a:r>
            <a:endParaRPr sz="1300" b="1">
              <a:solidFill>
                <a:schemeClr val="dk2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3135000" y="440875"/>
            <a:ext cx="28740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Gene level comparison</a:t>
            </a:r>
            <a:endParaRPr sz="1300" b="1">
              <a:solidFill>
                <a:schemeClr val="dk2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6269963" y="440875"/>
            <a:ext cx="28740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What causes the difference?</a:t>
            </a:r>
            <a:endParaRPr sz="1300" b="1"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6272900" y="3826025"/>
            <a:ext cx="30000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The unified transcript set </a:t>
            </a:r>
            <a:r>
              <a:rPr lang="en" sz="1000">
                <a:solidFill>
                  <a:srgbClr val="1F2328"/>
                </a:solidFill>
                <a:latin typeface="Courier New"/>
                <a:ea typeface="Courier New"/>
                <a:cs typeface="Courier New"/>
                <a:sym typeface="Courier New"/>
              </a:rPr>
              <a:t>merged_annotation.gtf.merged.gtf.gz</a:t>
            </a:r>
            <a:r>
              <a:rPr lang="en" sz="1200">
                <a:solidFill>
                  <a:srgbClr val="1F2328"/>
                </a:solidFill>
                <a:highlight>
                  <a:srgbClr val="FFFFFF"/>
                </a:highlight>
              </a:rPr>
              <a:t>, </a:t>
            </a:r>
            <a:r>
              <a:rPr lang="en" sz="1000">
                <a:solidFill>
                  <a:srgbClr val="1F2328"/>
                </a:solidFill>
                <a:latin typeface="Courier New"/>
                <a:ea typeface="Courier New"/>
                <a:cs typeface="Courier New"/>
                <a:sym typeface="Courier New"/>
              </a:rPr>
              <a:t>merged_annotation.gtf.track.tsv.gz</a:t>
            </a:r>
            <a:endParaRPr/>
          </a:p>
        </p:txBody>
      </p:sp>
      <p:cxnSp>
        <p:nvCxnSpPr>
          <p:cNvPr id="81" name="Google Shape;81;p15"/>
          <p:cNvCxnSpPr/>
          <p:nvPr/>
        </p:nvCxnSpPr>
        <p:spPr>
          <a:xfrm>
            <a:off x="6021500" y="4054125"/>
            <a:ext cx="2976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150" y="777550"/>
            <a:ext cx="2710974" cy="27754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133000" y="36975"/>
            <a:ext cx="2497800" cy="6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Transcript found evidence in each sample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5175" y="36963"/>
            <a:ext cx="548640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8300" y="2635650"/>
            <a:ext cx="3229455" cy="250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8192" y="2806626"/>
            <a:ext cx="3845808" cy="23368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/>
          <p:nvPr/>
        </p:nvSpPr>
        <p:spPr>
          <a:xfrm>
            <a:off x="5349525" y="340175"/>
            <a:ext cx="3272100" cy="8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2"/>
                </a:solidFill>
              </a:rPr>
              <a:t>How good of a reference transcript get support from population index </a:t>
            </a:r>
            <a:endParaRPr b="1" dirty="0">
              <a:solidFill>
                <a:schemeClr val="dk2"/>
              </a:solidFill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-80100" y="3659650"/>
            <a:ext cx="1808400" cy="13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Strong correlation between population frequency and expression level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821125" y="3770700"/>
            <a:ext cx="2259300" cy="8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</a:rPr>
              <a:t>57 samples are not sufficient for capture all diversity of transcripts 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92299"/>
            <a:ext cx="7305368" cy="277131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119550" y="2017166"/>
            <a:ext cx="8149379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>
                <a:solidFill>
                  <a:schemeClr val="dk2"/>
                </a:solidFill>
              </a:rPr>
              <a:t>MANE select and protein coding transcripts are better connected between human and chimpanzee</a:t>
            </a:r>
            <a:endParaRPr sz="1300" b="1" dirty="0">
              <a:solidFill>
                <a:schemeClr val="dk2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30989" y="265064"/>
            <a:ext cx="83265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78,733 total human genes</a:t>
            </a:r>
            <a:r>
              <a:rPr lang="en" sz="1100" dirty="0">
                <a:solidFill>
                  <a:schemeClr val="dk1"/>
                </a:solidFill>
              </a:rPr>
              <a:t> in GENCODE v50.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20,107 protein-coding genes</a:t>
            </a:r>
            <a:r>
              <a:rPr lang="en" sz="1100" dirty="0">
                <a:solidFill>
                  <a:schemeClr val="dk1"/>
                </a:solidFill>
              </a:rPr>
              <a:t> in GENCODE v50.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22.6% of protein-coding genes</a:t>
            </a:r>
            <a:r>
              <a:rPr lang="en" sz="1100" dirty="0">
                <a:solidFill>
                  <a:schemeClr val="dk1"/>
                </a:solidFill>
              </a:rPr>
              <a:t> were linked to an Entrez </a:t>
            </a:r>
            <a:r>
              <a:rPr lang="en" sz="1100" dirty="0" err="1">
                <a:solidFill>
                  <a:schemeClr val="dk1"/>
                </a:solidFill>
              </a:rPr>
              <a:t>GeneID</a:t>
            </a:r>
            <a:r>
              <a:rPr lang="en" sz="1100" dirty="0">
                <a:solidFill>
                  <a:schemeClr val="dk1"/>
                </a:solidFill>
              </a:rPr>
              <a:t> using GENCODE metadata and NCBI </a:t>
            </a:r>
            <a:r>
              <a:rPr lang="en" sz="1100" dirty="0" err="1">
                <a:solidFill>
                  <a:schemeClr val="dk1"/>
                </a:solidFill>
              </a:rPr>
              <a:t>Ensembl</a:t>
            </a:r>
            <a:r>
              <a:rPr lang="en" sz="1100" dirty="0">
                <a:solidFill>
                  <a:schemeClr val="dk1"/>
                </a:solidFill>
              </a:rPr>
              <a:t> cross-references.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NCBI chimpanzee </a:t>
            </a:r>
            <a:r>
              <a:rPr lang="en" sz="1100" dirty="0" err="1">
                <a:solidFill>
                  <a:schemeClr val="dk1"/>
                </a:solidFill>
              </a:rPr>
              <a:t>RefSeq</a:t>
            </a:r>
            <a:r>
              <a:rPr lang="en" sz="1100" dirty="0">
                <a:solidFill>
                  <a:schemeClr val="dk1"/>
                </a:solidFill>
              </a:rPr>
              <a:t> ortholog assignments (</a:t>
            </a:r>
            <a:r>
              <a:rPr lang="en" sz="1100" b="1" dirty="0">
                <a:solidFill>
                  <a:schemeClr val="dk1"/>
                </a:solidFill>
              </a:rPr>
              <a:t>GCF_028858775.2, RS_2026_05</a:t>
            </a:r>
            <a:r>
              <a:rPr lang="en" sz="1100" dirty="0">
                <a:solidFill>
                  <a:schemeClr val="dk1"/>
                </a:solidFill>
              </a:rPr>
              <a:t>) provided </a:t>
            </a:r>
            <a:r>
              <a:rPr lang="en" sz="1100" b="1" dirty="0">
                <a:solidFill>
                  <a:schemeClr val="dk1"/>
                </a:solidFill>
              </a:rPr>
              <a:t>17,903 human–chimpanzee ortholog pairs</a:t>
            </a:r>
            <a:r>
              <a:rPr lang="en" sz="1100" dirty="0">
                <a:solidFill>
                  <a:schemeClr val="dk1"/>
                </a:solidFill>
              </a:rPr>
              <a:t>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All identified ortholog pairs were </a:t>
            </a:r>
            <a:r>
              <a:rPr lang="en" sz="1100" b="1" dirty="0">
                <a:solidFill>
                  <a:schemeClr val="dk1"/>
                </a:solidFill>
              </a:rPr>
              <a:t>strictly one-to-one</a:t>
            </a:r>
            <a:r>
              <a:rPr lang="en" sz="1100" dirty="0">
                <a:solidFill>
                  <a:schemeClr val="dk1"/>
                </a:solidFill>
              </a:rPr>
              <a:t>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Overall, </a:t>
            </a:r>
            <a:r>
              <a:rPr lang="en" sz="1100" b="1" dirty="0">
                <a:solidFill>
                  <a:schemeClr val="dk1"/>
                </a:solidFill>
              </a:rPr>
              <a:t>17,869 of 20,107 protein-coding genes (88.9%)</a:t>
            </a:r>
            <a:r>
              <a:rPr lang="en" sz="1100" dirty="0">
                <a:solidFill>
                  <a:schemeClr val="dk1"/>
                </a:solidFill>
              </a:rPr>
              <a:t> were anchored to a unique chimpanzee locus.</a:t>
            </a:r>
            <a:endParaRPr sz="1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220</Words>
  <Application>Microsoft Macintosh PowerPoint</Application>
  <PresentationFormat>On-screen Show (16:9)</PresentationFormat>
  <Paragraphs>33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Courier New</vt:lpstr>
      <vt:lpstr>Simple Light</vt:lpstr>
      <vt:lpstr>Exploration of Chimpanzee isoform diversity   2026 hackathon Group3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Xinchang Zheng</cp:lastModifiedBy>
  <cp:revision>4</cp:revision>
  <dcterms:modified xsi:type="dcterms:W3CDTF">2026-08-28T19:48:04Z</dcterms:modified>
</cp:coreProperties>
</file>